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5033" autoAdjust="0"/>
  </p:normalViewPr>
  <p:slideViewPr>
    <p:cSldViewPr snapToGrid="0" snapToObjects="1">
      <p:cViewPr varScale="1">
        <p:scale>
          <a:sx n="66" d="100"/>
          <a:sy n="66" d="100"/>
        </p:scale>
        <p:origin x="668" y="40"/>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08-10-2026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08-10-2026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08-10-2026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08-10-2026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08-10-2026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08-10-2026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08-10-2026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08-10-2026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08-10-2026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08-10-2026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08-10-2026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08-10-2026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08-10-2026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08-10-2026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08-10-2026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08-10-2026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08-10-2026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08-10-2026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marL="228600" indent="-228600" algn="ctr">
              <a:lnSpc>
                <a:spcPct val="100000"/>
              </a:lnSpc>
              <a:buFont typeface="Arial" panose="020B0604020202020204" pitchFamily="34" charset="0"/>
              <a:buChar char="•"/>
            </a:pP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400" b="1" dirty="0">
                <a:latin typeface="Times New Roman" panose="02020603050405020304" pitchFamily="18" charset="0"/>
                <a:cs typeface="Times New Roman" panose="02020603050405020304" pitchFamily="18" charset="0"/>
              </a:rPr>
              <a:t>Cross-Platform Book and Asset Management App for Libraries and Archives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303282553"/>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GURRALA HEMANTH</a:t>
                      </a:r>
                    </a:p>
                  </a:txBody>
                  <a:tcPr/>
                </a:tc>
                <a:tc>
                  <a:txBody>
                    <a:bodyPr/>
                    <a:lstStyle/>
                    <a:p>
                      <a:r>
                        <a:rPr lang="en-US" dirty="0"/>
                        <a:t>2520030071</a:t>
                      </a:r>
                    </a:p>
                  </a:txBody>
                  <a:tcPr/>
                </a:tc>
                <a:extLst>
                  <a:ext uri="{0D108BD9-81ED-4DB2-BD59-A6C34878D82A}">
                    <a16:rowId xmlns:a16="http://schemas.microsoft.com/office/drawing/2014/main" val="253518174"/>
                  </a:ext>
                </a:extLst>
              </a:tr>
              <a:tr h="370840">
                <a:tc>
                  <a:txBody>
                    <a:bodyPr/>
                    <a:lstStyle/>
                    <a:p>
                      <a:r>
                        <a:rPr lang="en-US" dirty="0"/>
                        <a:t>ADAMA SAMARTH</a:t>
                      </a:r>
                    </a:p>
                  </a:txBody>
                  <a:tcPr/>
                </a:tc>
                <a:tc>
                  <a:txBody>
                    <a:bodyPr/>
                    <a:lstStyle/>
                    <a:p>
                      <a:r>
                        <a:rPr lang="en-US" dirty="0"/>
                        <a:t>2520030478</a:t>
                      </a:r>
                    </a:p>
                  </a:txBody>
                  <a:tcPr/>
                </a:tc>
                <a:extLst>
                  <a:ext uri="{0D108BD9-81ED-4DB2-BD59-A6C34878D82A}">
                    <a16:rowId xmlns:a16="http://schemas.microsoft.com/office/drawing/2014/main" val="2413438055"/>
                  </a:ext>
                </a:extLst>
              </a:tr>
              <a:tr h="370840">
                <a:tc>
                  <a:txBody>
                    <a:bodyPr/>
                    <a:lstStyle/>
                    <a:p>
                      <a:r>
                        <a:rPr lang="en-US" dirty="0"/>
                        <a:t>GONGATI NANDINI</a:t>
                      </a:r>
                    </a:p>
                  </a:txBody>
                  <a:tcPr/>
                </a:tc>
                <a:tc>
                  <a:txBody>
                    <a:bodyPr/>
                    <a:lstStyle/>
                    <a:p>
                      <a:r>
                        <a:rPr lang="en-US" dirty="0"/>
                        <a:t>2520030300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3895953210"/>
              </p:ext>
            </p:extLst>
          </p:nvPr>
        </p:nvGraphicFramePr>
        <p:xfrm>
          <a:off x="838199" y="1416193"/>
          <a:ext cx="10515600" cy="359836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GURRALA HEMANTH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2520030071</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ADAMA SAMARTH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2520030478</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GONGATI NANDINI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2520030300</a:t>
                      </a:r>
                    </a:p>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The Cross-Platform Book and Asset Management App for Libraries and Archives is a digital system designed to simplify the management, organization, and accessibility of books, documents, and other library or archival resources. The application provides a centralized platform where users can search, view, categorize, and manage digital and physical assets efficiently</a:t>
            </a:r>
            <a:r>
              <a:rPr lang="en-IN" sz="2600" dirty="0">
                <a:latin typeface="Times New Roman" panose="02020603050405020304" pitchFamily="18" charset="0"/>
                <a:cs typeface="Times New Roman" panose="02020603050405020304" pitchFamily="18" charset="0"/>
              </a:rPr>
              <a:t>. Library administrators can add and update book records, track availability, manage users, and maintain archival information. The system can be accessed across multiple platforms, such as web and mobile devices, providing flexibility and convenience. By reducing manual record-keeping and improving information retrieval, the proposed system aims to make library and archive management more efficient, organized, and user-friendly</a:t>
            </a:r>
            <a:r>
              <a:rPr lang="en-IN"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a:bodyPr>
          <a:lstStyle/>
          <a:p>
            <a:r>
              <a:rPr lang="en-IN" dirty="0">
                <a:latin typeface="Times New Roman" panose="02020603050405020304" pitchFamily="18" charset="0"/>
                <a:cs typeface="Times New Roman" panose="02020603050405020304" pitchFamily="18" charset="0"/>
              </a:rPr>
              <a:t>.</a:t>
            </a:r>
          </a:p>
          <a:p>
            <a:r>
              <a:rPr lang="en-IN" sz="2600" dirty="0">
                <a:latin typeface="Times New Roman" panose="02020603050405020304" pitchFamily="18" charset="0"/>
                <a:cs typeface="Times New Roman" panose="02020603050405020304" pitchFamily="18" charset="0"/>
              </a:rPr>
              <a:t>The Cross-Platform Book and Asset Management App for Libraries and Archives is proposed to provide a centralized digital platform for managing these resources. The system allows librarians and administrators to organize books and assets, maintain records, track availability, and manage archival information. Users can easily search and access available resources through different devices and platforms.</a:t>
            </a:r>
          </a:p>
          <a:p>
            <a:r>
              <a:rPr lang="en-IN" sz="2600" dirty="0">
                <a:latin typeface="Times New Roman" panose="02020603050405020304" pitchFamily="18" charset="0"/>
                <a:cs typeface="Times New Roman" panose="02020603050405020304" pitchFamily="18" charset="0"/>
              </a:rPr>
              <a:t>The main goal of the system is to reduce manual work, improve data organization, and provide faster access to library and archival resources. By using a cross-platform approach, the application can offer a consistent and convenient experience across web, mobile, and other supported devices. This makes library and archive management more efficient, accessible, and user-friendly.</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62500" lnSpcReduction="20000"/>
          </a:bodyPr>
          <a:lstStyle/>
          <a:p>
            <a:r>
              <a:rPr lang="en-IN" sz="3400" dirty="0">
                <a:latin typeface="Times New Roman" panose="02020603050405020304" pitchFamily="18" charset="0"/>
                <a:cs typeface="Times New Roman" panose="02020603050405020304" pitchFamily="18" charset="0"/>
              </a:rPr>
              <a:t>In the existing system, libraries and archives often rely on manual record-keeping or separate software systems to manage books, documents, and other assets. Information such as book details, availability, member records, and archival materials may be maintained using registers, spreadsheets, or standalone applications.</a:t>
            </a:r>
          </a:p>
          <a:p>
            <a:r>
              <a:rPr lang="en-IN" sz="3400" dirty="0">
                <a:latin typeface="Times New Roman" panose="02020603050405020304" pitchFamily="18" charset="0"/>
                <a:cs typeface="Times New Roman" panose="02020603050405020304" pitchFamily="18" charset="0"/>
              </a:rPr>
              <a:t>These systems can make it difficult to search and retrieve information quickly, especially when the collection becomes large. Manual updates can also lead to duplicate, outdated, or incorrect records. In some systems, library management and digital archive management are handled separately, making it difficult to manage different types of assets from a single platform.</a:t>
            </a:r>
          </a:p>
          <a:p>
            <a:r>
              <a:rPr lang="en-IN" sz="3400" dirty="0">
                <a:latin typeface="Times New Roman" panose="02020603050405020304" pitchFamily="18" charset="0"/>
                <a:cs typeface="Times New Roman" panose="02020603050405020304" pitchFamily="18" charset="0"/>
              </a:rPr>
              <a:t>Another limitation is platform dependency. Some applications may work only on specific devices or operating systems, reducing accessibility for users. Therefore, the existing approach can involve more manual effort, limited accessibility, and difficulty in maintaining a centralized collection.</a:t>
            </a:r>
          </a:p>
          <a:p>
            <a:r>
              <a:rPr lang="en-IN" sz="3400" dirty="0">
                <a:latin typeface="Times New Roman" panose="02020603050405020304" pitchFamily="18" charset="0"/>
                <a:cs typeface="Times New Roman" panose="02020603050405020304" pitchFamily="18" charset="0"/>
              </a:rPr>
              <a:t>The proposed system aims to overcome these limitations by providing a centralized,</a:t>
            </a:r>
            <a:r>
              <a:rPr lang="en-IN" sz="3400" b="1" dirty="0">
                <a:latin typeface="Times New Roman" panose="02020603050405020304" pitchFamily="18" charset="0"/>
                <a:cs typeface="Times New Roman" panose="02020603050405020304" pitchFamily="18" charset="0"/>
              </a:rPr>
              <a:t> </a:t>
            </a:r>
            <a:r>
              <a:rPr lang="en-IN" sz="3400" dirty="0">
                <a:latin typeface="Times New Roman" panose="02020603050405020304" pitchFamily="18" charset="0"/>
                <a:cs typeface="Times New Roman" panose="02020603050405020304" pitchFamily="18" charset="0"/>
              </a:rPr>
              <a:t>cross-platform solution for managing books and archival assets efficiently.</a:t>
            </a:r>
          </a:p>
          <a:p>
            <a:br>
              <a:rPr lang="en-IN" dirty="0"/>
            </a:br>
            <a:endParaRPr lang="en-IN" dirty="0"/>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Traditional library and archive systems often depend on manual records or separate applications, making it difficult to manage books and digital assets efficiently. Searching, updating, and tracking resources can take time and may lead to errors or duplicate records. Users may also face limited access when the system is available only on certain platforms.</a:t>
            </a:r>
          </a:p>
          <a:p>
            <a:r>
              <a:rPr lang="en-IN" sz="2400" dirty="0">
                <a:latin typeface="Times New Roman" panose="02020603050405020304" pitchFamily="18" charset="0"/>
                <a:cs typeface="Times New Roman" panose="02020603050405020304" pitchFamily="18" charset="0"/>
              </a:rPr>
              <a:t>Therefore, there is a need for a simple, centralized, and cross-platform application that makes managing and accessing library and archival resources faster, easier, and more organized.</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The proposed system provides a cross-platform application to manage books, documents, and digital assets in one place. It allows librarians to add, update, search, and organize resources, while users can easily find and access available materials.</a:t>
            </a:r>
          </a:p>
          <a:p>
            <a:r>
              <a:rPr lang="en-IN" sz="2400" dirty="0">
                <a:latin typeface="Times New Roman" panose="02020603050405020304" pitchFamily="18" charset="0"/>
                <a:cs typeface="Times New Roman" panose="02020603050405020304" pitchFamily="18" charset="0"/>
              </a:rPr>
              <a:t>The system reduces manual work, avoids duplicate records, and makes library and archive management faster, simpler, and more organized</a:t>
            </a:r>
            <a:r>
              <a:rPr lang="en-IN" sz="2400" dirty="0"/>
              <a:t>.</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lvl="0"/>
            <a:r>
              <a:rPr lang="en-IN" sz="2400" dirty="0">
                <a:latin typeface="Times New Roman" panose="02020603050405020304" pitchFamily="18" charset="0"/>
                <a:cs typeface="Times New Roman" panose="02020603050405020304" pitchFamily="18" charset="0"/>
              </a:rPr>
              <a:t>To develop a cross-platform application for libraries and archives. </a:t>
            </a:r>
          </a:p>
          <a:p>
            <a:pPr lvl="0"/>
            <a:r>
              <a:rPr lang="en-IN" sz="2400" dirty="0">
                <a:latin typeface="Times New Roman" panose="02020603050405020304" pitchFamily="18" charset="0"/>
                <a:cs typeface="Times New Roman" panose="02020603050405020304" pitchFamily="18" charset="0"/>
              </a:rPr>
              <a:t>To manage books, documents, and digital assets in one place. </a:t>
            </a:r>
          </a:p>
          <a:p>
            <a:pPr lvl="0"/>
            <a:r>
              <a:rPr lang="en-IN" sz="2400" dirty="0">
                <a:latin typeface="Times New Roman" panose="02020603050405020304" pitchFamily="18" charset="0"/>
                <a:cs typeface="Times New Roman" panose="02020603050405020304" pitchFamily="18" charset="0"/>
              </a:rPr>
              <a:t>To make searching and accessing resources quick and easy. </a:t>
            </a:r>
          </a:p>
          <a:p>
            <a:pPr lvl="0"/>
            <a:r>
              <a:rPr lang="en-IN" sz="2400" dirty="0">
                <a:latin typeface="Times New Roman" panose="02020603050405020304" pitchFamily="18" charset="0"/>
                <a:cs typeface="Times New Roman" panose="02020603050405020304" pitchFamily="18" charset="0"/>
              </a:rPr>
              <a:t>To reduce manual work and avoid duplicate or incorrect records. </a:t>
            </a:r>
          </a:p>
          <a:p>
            <a:pPr lvl="0"/>
            <a:r>
              <a:rPr lang="en-IN" sz="2400" dirty="0">
                <a:latin typeface="Times New Roman" panose="02020603050405020304" pitchFamily="18" charset="0"/>
                <a:cs typeface="Times New Roman" panose="02020603050405020304" pitchFamily="18" charset="0"/>
              </a:rPr>
              <a:t>To provide a simple and user-friendly interface for users and librarians.</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pPr lvl="0"/>
            <a:r>
              <a:rPr lang="en-IN" sz="2400" b="1" dirty="0">
                <a:latin typeface="Times New Roman" panose="02020603050405020304" pitchFamily="18" charset="0"/>
                <a:cs typeface="Times New Roman" panose="02020603050405020304" pitchFamily="18" charset="0"/>
              </a:rPr>
              <a:t>User Module</a:t>
            </a:r>
            <a:r>
              <a:rPr lang="en-IN" sz="2400" dirty="0">
                <a:latin typeface="Times New Roman" panose="02020603050405020304" pitchFamily="18" charset="0"/>
                <a:cs typeface="Times New Roman" panose="02020603050405020304" pitchFamily="18" charset="0"/>
              </a:rPr>
              <a:t> – User registration, login, and profile management. </a:t>
            </a:r>
          </a:p>
          <a:p>
            <a:pPr lvl="0"/>
            <a:r>
              <a:rPr lang="en-IN" sz="2400" b="1" dirty="0">
                <a:latin typeface="Times New Roman" panose="02020603050405020304" pitchFamily="18" charset="0"/>
                <a:cs typeface="Times New Roman" panose="02020603050405020304" pitchFamily="18" charset="0"/>
              </a:rPr>
              <a:t>Book Management Module</a:t>
            </a:r>
            <a:r>
              <a:rPr lang="en-IN" sz="2400" dirty="0">
                <a:latin typeface="Times New Roman" panose="02020603050405020304" pitchFamily="18" charset="0"/>
                <a:cs typeface="Times New Roman" panose="02020603050405020304" pitchFamily="18" charset="0"/>
              </a:rPr>
              <a:t> – Add, update, delete, and view book details. </a:t>
            </a:r>
          </a:p>
          <a:p>
            <a:pPr lvl="0"/>
            <a:r>
              <a:rPr lang="en-IN" sz="2400" b="1" dirty="0">
                <a:latin typeface="Times New Roman" panose="02020603050405020304" pitchFamily="18" charset="0"/>
                <a:cs typeface="Times New Roman" panose="02020603050405020304" pitchFamily="18" charset="0"/>
              </a:rPr>
              <a:t>Search Module</a:t>
            </a:r>
            <a:r>
              <a:rPr lang="en-IN" sz="2400" dirty="0">
                <a:latin typeface="Times New Roman" panose="02020603050405020304" pitchFamily="18" charset="0"/>
                <a:cs typeface="Times New Roman" panose="02020603050405020304" pitchFamily="18" charset="0"/>
              </a:rPr>
              <a:t> – Search books and assets by title, author, category, etc. </a:t>
            </a:r>
          </a:p>
          <a:p>
            <a:pPr lvl="0"/>
            <a:r>
              <a:rPr lang="en-IN" sz="2400" b="1" dirty="0">
                <a:latin typeface="Times New Roman" panose="02020603050405020304" pitchFamily="18" charset="0"/>
                <a:cs typeface="Times New Roman" panose="02020603050405020304" pitchFamily="18" charset="0"/>
              </a:rPr>
              <a:t>Asset/Archive Module</a:t>
            </a:r>
            <a:r>
              <a:rPr lang="en-IN" sz="2400" dirty="0">
                <a:latin typeface="Times New Roman" panose="02020603050405020304" pitchFamily="18" charset="0"/>
                <a:cs typeface="Times New Roman" panose="02020603050405020304" pitchFamily="18" charset="0"/>
              </a:rPr>
              <a:t> – Manage digital documents, images, and archival records. </a:t>
            </a:r>
          </a:p>
          <a:p>
            <a:pPr lvl="0"/>
            <a:r>
              <a:rPr lang="en-IN" sz="2400" b="1" dirty="0">
                <a:latin typeface="Times New Roman" panose="02020603050405020304" pitchFamily="18" charset="0"/>
                <a:cs typeface="Times New Roman" panose="02020603050405020304" pitchFamily="18" charset="0"/>
              </a:rPr>
              <a:t>Issue &amp; Return Module</a:t>
            </a:r>
            <a:r>
              <a:rPr lang="en-IN" sz="2400" dirty="0">
                <a:latin typeface="Times New Roman" panose="02020603050405020304" pitchFamily="18" charset="0"/>
                <a:cs typeface="Times New Roman" panose="02020603050405020304" pitchFamily="18" charset="0"/>
              </a:rPr>
              <a:t> – Track borrowed and returned books. </a:t>
            </a:r>
          </a:p>
          <a:p>
            <a:pPr lvl="0"/>
            <a:r>
              <a:rPr lang="en-IN" sz="2400" b="1" dirty="0">
                <a:latin typeface="Times New Roman" panose="02020603050405020304" pitchFamily="18" charset="0"/>
                <a:cs typeface="Times New Roman" panose="02020603050405020304" pitchFamily="18" charset="0"/>
              </a:rPr>
              <a:t>Admin Module</a:t>
            </a:r>
            <a:r>
              <a:rPr lang="en-IN" sz="2400" dirty="0">
                <a:latin typeface="Times New Roman" panose="02020603050405020304" pitchFamily="18" charset="0"/>
                <a:cs typeface="Times New Roman" panose="02020603050405020304" pitchFamily="18" charset="0"/>
              </a:rPr>
              <a:t> – Manage users, books, assets, and overall system activities.</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pPr lvl="0"/>
            <a:r>
              <a:rPr lang="en-IN" sz="2400" b="1" dirty="0"/>
              <a:t>Operating System:</a:t>
            </a:r>
            <a:r>
              <a:rPr lang="en-IN" sz="2400" dirty="0"/>
              <a:t> Windows / Linux / macOS / Android </a:t>
            </a:r>
          </a:p>
          <a:p>
            <a:pPr lvl="0"/>
            <a:r>
              <a:rPr lang="en-IN" sz="2400" b="1" dirty="0">
                <a:latin typeface="Times New Roman" panose="02020603050405020304" pitchFamily="18" charset="0"/>
                <a:cs typeface="Times New Roman" panose="02020603050405020304" pitchFamily="18" charset="0"/>
              </a:rPr>
              <a:t>Frontend</a:t>
            </a:r>
            <a:r>
              <a:rPr lang="en-IN" sz="2400" b="1" dirty="0"/>
              <a:t>:</a:t>
            </a:r>
            <a:r>
              <a:rPr lang="en-IN" sz="2400" dirty="0"/>
              <a:t> HTML, CSS, JavaScript / React </a:t>
            </a:r>
          </a:p>
          <a:p>
            <a:pPr lvl="0"/>
            <a:r>
              <a:rPr lang="en-IN" sz="2400" b="1" dirty="0"/>
              <a:t>Backend:</a:t>
            </a:r>
            <a:r>
              <a:rPr lang="en-IN" sz="2400" dirty="0"/>
              <a:t> Node.js / Python </a:t>
            </a:r>
          </a:p>
          <a:p>
            <a:pPr lvl="0"/>
            <a:r>
              <a:rPr lang="en-IN" sz="2400" b="1" dirty="0"/>
              <a:t>Database:</a:t>
            </a:r>
            <a:r>
              <a:rPr lang="en-IN" sz="2400" dirty="0"/>
              <a:t> MySQL / MongoDB </a:t>
            </a:r>
          </a:p>
          <a:p>
            <a:pPr lvl="0"/>
            <a:r>
              <a:rPr lang="en-IN" sz="2400" b="1" dirty="0"/>
              <a:t>IDE:</a:t>
            </a:r>
            <a:r>
              <a:rPr lang="en-IN" sz="2400" dirty="0"/>
              <a:t> Visual Studio Code </a:t>
            </a:r>
          </a:p>
          <a:p>
            <a:pPr lvl="0"/>
            <a:r>
              <a:rPr lang="en-IN" sz="2400" b="1" dirty="0"/>
              <a:t>Browser:</a:t>
            </a:r>
            <a:r>
              <a:rPr lang="en-IN" sz="2400" dirty="0"/>
              <a:t> Google Chrome / Microsoft Edge </a:t>
            </a:r>
          </a:p>
          <a:p>
            <a:pPr lvl="0"/>
            <a:r>
              <a:rPr lang="en-IN" sz="2400" b="1" dirty="0"/>
              <a:t>Version Control:</a:t>
            </a:r>
            <a:r>
              <a:rPr lang="en-IN" sz="2400" dirty="0"/>
              <a:t> Git &amp; GitHub </a:t>
            </a:r>
          </a:p>
          <a:p>
            <a:pPr lvl="0"/>
            <a:r>
              <a:rPr lang="en-IN" sz="2400" b="1" dirty="0"/>
              <a:t>Internet:</a:t>
            </a:r>
            <a:r>
              <a:rPr lang="en-IN" sz="2400" dirty="0"/>
              <a:t> Required for online access and synchronization.</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3232141"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07C70B94-7EAD-8B7F-1784-A1F8E7694C71}"/>
              </a:ext>
            </a:extLst>
          </p:cNvPr>
          <p:cNvSpPr txBox="1"/>
          <p:nvPr/>
        </p:nvSpPr>
        <p:spPr>
          <a:xfrm>
            <a:off x="701964" y="1163782"/>
            <a:ext cx="10723418" cy="433965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Cross-Platform Book and Asset Management App</a:t>
            </a:r>
            <a:r>
              <a:rPr lang="en-IN" sz="2400" dirty="0">
                <a:latin typeface="Times New Roman" panose="02020603050405020304" pitchFamily="18" charset="0"/>
                <a:cs typeface="Times New Roman" panose="02020603050405020304" pitchFamily="18" charset="0"/>
              </a:rPr>
              <a:t> provides a simple and efficient way to manage books, documents, and archival resources in one place. It reduces manual work, makes searching easier, and improves the overall organization of library and archive resources</a:t>
            </a:r>
          </a:p>
          <a:p>
            <a:endParaRPr lang="en-IN" dirty="0"/>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AI-based book and document recommendations. </a:t>
            </a:r>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barcode/QR code scanning for books. </a:t>
            </a:r>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online book reading and digital document access. </a:t>
            </a:r>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cloud storage and automatic backup. </a:t>
            </a:r>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notifications for due dates and new resources. </a:t>
            </a:r>
          </a:p>
          <a:p>
            <a:pPr marL="457200" lvl="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support for mobile and web platforms.</a:t>
            </a:r>
          </a:p>
          <a:p>
            <a:endParaRPr lang="en-IN"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8314</TotalTime>
  <Words>1002</Words>
  <Application>Microsoft Office PowerPoint</Application>
  <PresentationFormat>Widescreen</PresentationFormat>
  <Paragraphs>110</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Cross-Platform Book and Asset Management App for Libraries and Archives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nandinigongati25042005@outlook.com</cp:lastModifiedBy>
  <cp:revision>95</cp:revision>
  <dcterms:created xsi:type="dcterms:W3CDTF">2022-05-20T10:20:31Z</dcterms:created>
  <dcterms:modified xsi:type="dcterms:W3CDTF">2026-10-08T06:48:47Z</dcterms:modified>
</cp:coreProperties>
</file>